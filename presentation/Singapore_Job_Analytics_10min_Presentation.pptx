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1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"/>
          <p:cNvSpPr/>
          <p:nvPr/>
        </p:nvSpPr>
        <p:spPr>
          <a:xfrm>
            <a:off x="0" y="0"/>
            <a:ext cx="10972800" cy="685800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12" name="Rectangle"/>
          <p:cNvSpPr/>
          <p:nvPr/>
        </p:nvSpPr>
        <p:spPr>
          <a:xfrm>
            <a:off x="0" y="5074920"/>
            <a:ext cx="10972800" cy="178308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" name="Text"/>
          <p:cNvSpPr txBox="1"/>
          <p:nvPr/>
        </p:nvSpPr>
        <p:spPr>
          <a:xfrm>
            <a:off x="658368" y="1051560"/>
            <a:ext cx="9875520" cy="10058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4200" b="1">
                <a:solidFill>
                  <a:srgbClr val="FFFFFF"/>
                </a:solidFill>
              </a:rPr>
              <a:t>Singapore Job Analytics</a:t>
            </a:r>
          </a:p>
        </p:txBody>
      </p:sp>
      <p:sp>
        <p:nvSpPr>
          <p:cNvPr id="3" name="Text"/>
          <p:cNvSpPr txBox="1"/>
          <p:nvPr/>
        </p:nvSpPr>
        <p:spPr>
          <a:xfrm>
            <a:off x="685800" y="2139696"/>
            <a:ext cx="9509760" cy="5486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400">
                <a:solidFill>
                  <a:srgbClr val="D8EEF2"/>
                </a:solidFill>
              </a:rPr>
              <a:t>A dashboard for jobseekers and career switchers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713232" y="5413248"/>
            <a:ext cx="8961120" cy="5029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200">
                <a:solidFill>
                  <a:srgbClr val="FFFFFF"/>
                </a:solidFill>
              </a:rPr>
              <a:t>10-minute project presentation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713232" y="5879592"/>
            <a:ext cx="896112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400">
                <a:solidFill>
                  <a:srgbClr val="EAF7F8"/>
                </a:solidFill>
              </a:rPr>
              <a:t>Dataset-driven view of demand, salary, accessibility, and skill signals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"/>
          <p:cNvSpPr txBox="1"/>
          <p:nvPr/>
        </p:nvSpPr>
        <p:spPr>
          <a:xfrm>
            <a:off x="502920" y="320040"/>
            <a:ext cx="10332720" cy="5029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000" b="1">
                <a:solidFill>
                  <a:srgbClr val="17324D"/>
                </a:solidFill>
              </a:rPr>
              <a:t>1. Why This Project Matters</a:t>
            </a:r>
          </a:p>
        </p:txBody>
      </p:sp>
      <p:sp>
        <p:nvSpPr>
          <p:cNvPr id="2" name="Text"/>
          <p:cNvSpPr txBox="1"/>
          <p:nvPr/>
        </p:nvSpPr>
        <p:spPr>
          <a:xfrm>
            <a:off x="594360" y="827928"/>
            <a:ext cx="987552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400">
                <a:solidFill>
                  <a:srgbClr val="667085"/>
                </a:solidFill>
              </a:rPr>
              <a:t>The dashboard is built around career decisions, not just data exploration.</a:t>
            </a:r>
          </a:p>
        </p:txBody>
      </p:sp>
      <p:sp>
        <p:nvSpPr>
          <p:cNvPr id="13" name="Rectangle"/>
          <p:cNvSpPr/>
          <p:nvPr/>
        </p:nvSpPr>
        <p:spPr>
          <a:xfrm>
            <a:off x="546735" y="1116361"/>
            <a:ext cx="5825490" cy="64944"/>
          </a:xfrm>
          <a:prstGeom prst="rect">
            <a:avLst/>
          </a:prstGeom>
          <a:solidFill>
            <a:srgbClr val="E26D5A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3" name="Text"/>
          <p:cNvSpPr txBox="1"/>
          <p:nvPr/>
        </p:nvSpPr>
        <p:spPr>
          <a:xfrm>
            <a:off x="685800" y="141732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000" b="1">
                <a:solidFill>
                  <a:srgbClr val="17324D"/>
                </a:solidFill>
              </a:rPr>
              <a:t>Core audience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868680" y="1874519"/>
            <a:ext cx="4434840" cy="13258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1800">
                <a:solidFill>
                  <a:srgbClr val="1F2933"/>
                </a:solidFill>
              </a:rPr>
              <a:t>Singapore-based jobseekers</a:t>
            </a:r>
          </a:p>
          <a:p>
            <a:pPr marL="285750" indent="-171450">
              <a:buChar char="•"/>
            </a:pPr>
            <a:r>
              <a:rPr lang="en-US" sz="1800">
                <a:solidFill>
                  <a:srgbClr val="1F2933"/>
                </a:solidFill>
              </a:rPr>
              <a:t>Career switchers comparing pathways</a:t>
            </a:r>
          </a:p>
          <a:p>
            <a:pPr marL="285750" indent="-171450">
              <a:buChar char="•"/>
            </a:pPr>
            <a:r>
              <a:rPr lang="en-US" sz="1800">
                <a:solidFill>
                  <a:srgbClr val="1F2933"/>
                </a:solidFill>
              </a:rPr>
              <a:t>Students or fresh graduates planning first roles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5806440" y="141732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000" b="1">
                <a:solidFill>
                  <a:srgbClr val="17324D"/>
                </a:solidFill>
              </a:rPr>
              <a:t>Decision it supports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5989320" y="1874519"/>
            <a:ext cx="4480560" cy="150876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1800">
                <a:solidFill>
                  <a:srgbClr val="1F2933"/>
                </a:solidFill>
              </a:rPr>
              <a:t>Which sectors are hiring?</a:t>
            </a:r>
          </a:p>
          <a:p>
            <a:pPr marL="285750" indent="-171450">
              <a:buChar char="•"/>
            </a:pPr>
            <a:r>
              <a:rPr lang="en-US" sz="1800">
                <a:solidFill>
                  <a:srgbClr val="1F2933"/>
                </a:solidFill>
              </a:rPr>
              <a:t>Which roles are accessible?</a:t>
            </a:r>
          </a:p>
          <a:p>
            <a:pPr marL="285750" indent="-171450">
              <a:buChar char="•"/>
            </a:pPr>
            <a:r>
              <a:rPr lang="en-US" sz="1800">
                <a:solidFill>
                  <a:srgbClr val="1F2933"/>
                </a:solidFill>
              </a:rPr>
              <a:t>What salary range can I expect?</a:t>
            </a:r>
          </a:p>
          <a:p>
            <a:pPr marL="285750" indent="-171450">
              <a:buChar char="•"/>
            </a:pPr>
            <a:r>
              <a:rPr lang="en-US" sz="1800">
                <a:solidFill>
                  <a:srgbClr val="1F2933"/>
                </a:solidFill>
              </a:rPr>
              <a:t>Which visible skill signals appear in job titles?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914400" y="4160520"/>
            <a:ext cx="9509760" cy="6858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400" b="1">
                <a:solidFill>
                  <a:srgbClr val="E26D5A"/>
                </a:solidFill>
              </a:rPr>
              <a:t>Main question: Which roles and skillsets should I consider to improve employability?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"/>
          <p:cNvSpPr txBox="1"/>
          <p:nvPr/>
        </p:nvSpPr>
        <p:spPr>
          <a:xfrm>
            <a:off x="502920" y="320040"/>
            <a:ext cx="10332720" cy="5029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000" b="1">
                <a:solidFill>
                  <a:srgbClr val="17324D"/>
                </a:solidFill>
              </a:rPr>
              <a:t>2. Data Foundation</a:t>
            </a:r>
          </a:p>
        </p:txBody>
      </p:sp>
      <p:sp>
        <p:nvSpPr>
          <p:cNvPr id="2" name="Text"/>
          <p:cNvSpPr txBox="1"/>
          <p:nvPr/>
        </p:nvSpPr>
        <p:spPr>
          <a:xfrm>
            <a:off x="530352" y="841248"/>
            <a:ext cx="987552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400">
                <a:solidFill>
                  <a:srgbClr val="667085"/>
                </a:solidFill>
              </a:rPr>
              <a:t>The CSV turns advertised job postings into measurable career signals.</a:t>
            </a:r>
          </a:p>
        </p:txBody>
      </p:sp>
      <p:sp>
        <p:nvSpPr>
          <p:cNvPr id="14" name="Rectangle"/>
          <p:cNvSpPr/>
          <p:nvPr/>
        </p:nvSpPr>
        <p:spPr>
          <a:xfrm>
            <a:off x="530352" y="1115568"/>
            <a:ext cx="5565648" cy="64008"/>
          </a:xfrm>
          <a:prstGeom prst="rect">
            <a:avLst/>
          </a:prstGeom>
          <a:solidFill>
            <a:srgbClr val="E26D5A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15" name="Rectangle"/>
          <p:cNvSpPr/>
          <p:nvPr/>
        </p:nvSpPr>
        <p:spPr>
          <a:xfrm>
            <a:off x="658368" y="1481328"/>
            <a:ext cx="2331720" cy="86868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3" name="Text"/>
          <p:cNvSpPr txBox="1"/>
          <p:nvPr/>
        </p:nvSpPr>
        <p:spPr>
          <a:xfrm>
            <a:off x="822959" y="1591056"/>
            <a:ext cx="2011679" cy="228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100">
                <a:solidFill>
                  <a:srgbClr val="667085"/>
                </a:solidFill>
              </a:rPr>
              <a:t>Processed postings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822959" y="1865376"/>
            <a:ext cx="2011679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200" b="1">
                <a:solidFill>
                  <a:srgbClr val="1F7A8C"/>
                </a:solidFill>
              </a:rPr>
              <a:t>1,036,725</a:t>
            </a:r>
          </a:p>
        </p:txBody>
      </p:sp>
      <p:sp>
        <p:nvSpPr>
          <p:cNvPr id="16" name="Rectangle"/>
          <p:cNvSpPr/>
          <p:nvPr/>
        </p:nvSpPr>
        <p:spPr>
          <a:xfrm>
            <a:off x="3246120" y="1481328"/>
            <a:ext cx="2148840" cy="86868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5" name="Text"/>
          <p:cNvSpPr txBox="1"/>
          <p:nvPr/>
        </p:nvSpPr>
        <p:spPr>
          <a:xfrm>
            <a:off x="3410712" y="1591056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100">
                <a:solidFill>
                  <a:srgbClr val="667085"/>
                </a:solidFill>
              </a:rPr>
              <a:t>Period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3410712" y="1865376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200" b="1">
                <a:solidFill>
                  <a:srgbClr val="E26D5A"/>
                </a:solidFill>
              </a:rPr>
              <a:t>Mar 2023 to May 2024</a:t>
            </a:r>
          </a:p>
        </p:txBody>
      </p:sp>
      <p:sp>
        <p:nvSpPr>
          <p:cNvPr id="17" name="Rectangle"/>
          <p:cNvSpPr/>
          <p:nvPr/>
        </p:nvSpPr>
        <p:spPr>
          <a:xfrm>
            <a:off x="5650992" y="1481328"/>
            <a:ext cx="1965960" cy="86868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7" name="Text"/>
          <p:cNvSpPr txBox="1"/>
          <p:nvPr/>
        </p:nvSpPr>
        <p:spPr>
          <a:xfrm>
            <a:off x="5815583" y="1591056"/>
            <a:ext cx="1645919" cy="228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100">
                <a:solidFill>
                  <a:srgbClr val="667085"/>
                </a:solidFill>
              </a:rPr>
              <a:t>Categories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815583" y="1865376"/>
            <a:ext cx="1645919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200" b="1">
                <a:solidFill>
                  <a:srgbClr val="F2B134"/>
                </a:solidFill>
              </a:rPr>
              <a:t>43</a:t>
            </a:r>
          </a:p>
        </p:txBody>
      </p:sp>
      <p:sp>
        <p:nvSpPr>
          <p:cNvPr id="18" name="Rectangle"/>
          <p:cNvSpPr/>
          <p:nvPr/>
        </p:nvSpPr>
        <p:spPr>
          <a:xfrm>
            <a:off x="7882127" y="1481328"/>
            <a:ext cx="2331720" cy="86868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9" name="Text"/>
          <p:cNvSpPr txBox="1"/>
          <p:nvPr/>
        </p:nvSpPr>
        <p:spPr>
          <a:xfrm>
            <a:off x="8046719" y="1591056"/>
            <a:ext cx="2011679" cy="228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100">
                <a:solidFill>
                  <a:srgbClr val="667085"/>
                </a:solidFill>
              </a:rPr>
              <a:t>Career tracks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8046719" y="1865376"/>
            <a:ext cx="2011679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200" b="1">
                <a:solidFill>
                  <a:srgbClr val="8BC6A6"/>
                </a:solidFill>
              </a:rPr>
              <a:t>9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749808" y="2834640"/>
            <a:ext cx="9875520" cy="4114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000" b="1">
                <a:solidFill>
                  <a:srgbClr val="17324D"/>
                </a:solidFill>
              </a:rPr>
              <a:t>Important fields used in the dashboard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932688" y="3337560"/>
            <a:ext cx="9281160" cy="12344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1600">
                <a:solidFill>
                  <a:srgbClr val="1F2933"/>
                </a:solidFill>
              </a:rPr>
              <a:t>title: advertised position or role name</a:t>
            </a:r>
          </a:p>
          <a:p>
            <a:pPr marL="285750" indent="-171450">
              <a:buChar char="•"/>
            </a:pPr>
            <a:r>
              <a:rPr lang="en-US" sz="1600">
                <a:solidFill>
                  <a:srgbClr val="1F2933"/>
                </a:solidFill>
              </a:rPr>
              <a:t>category: industry or job-function area</a:t>
            </a:r>
          </a:p>
          <a:p>
            <a:pPr marL="285750" indent="-171450">
              <a:buChar char="•"/>
            </a:pPr>
            <a:r>
              <a:rPr lang="en-US" sz="1600">
                <a:solidFill>
                  <a:srgbClr val="1F2933"/>
                </a:solidFill>
              </a:rPr>
              <a:t>salary and experience: market expectation and accessibility</a:t>
            </a:r>
          </a:p>
          <a:p>
            <a:pPr marL="285750" indent="-171450">
              <a:buChar char="•"/>
            </a:pPr>
            <a:r>
              <a:rPr lang="en-US" sz="1600">
                <a:solidFill>
                  <a:srgbClr val="1F2933"/>
                </a:solidFill>
              </a:rPr>
              <a:t>applications and views: rough interest or competition signals</a:t>
            </a:r>
          </a:p>
          <a:p>
            <a:pPr marL="285750" indent="-171450">
              <a:buChar char="•"/>
            </a:pPr>
            <a:r>
              <a:rPr lang="en-US" sz="1600">
                <a:solidFill>
                  <a:srgbClr val="1F2933"/>
                </a:solidFill>
              </a:rPr>
              <a:t>position level and title keywords: seniority, career track, and visible skill signals</a:t>
            </a:r>
          </a:p>
        </p:txBody>
      </p:sp>
      <p:sp>
        <p:nvSpPr>
          <p:cNvPr id="19" name="Text"/>
          <p:cNvSpPr txBox="1"/>
          <p:nvPr/>
        </p:nvSpPr>
        <p:spPr>
          <a:xfrm>
            <a:off x="877824" y="5074920"/>
            <a:ext cx="9692640" cy="5029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100" b="1">
                <a:solidFill>
                  <a:srgbClr val="E26D5A"/>
                </a:solidFill>
              </a:rPr>
              <a:t>A job title is specific; a category gives the wider labour-market context.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"/>
          <p:cNvSpPr txBox="1"/>
          <p:nvPr/>
        </p:nvSpPr>
        <p:spPr>
          <a:xfrm>
            <a:off x="502920" y="320040"/>
            <a:ext cx="10332720" cy="5029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000" b="1">
                <a:solidFill>
                  <a:srgbClr val="17324D"/>
                </a:solidFill>
              </a:rPr>
              <a:t>3. From Raw CSV to Dashboard Metrics</a:t>
            </a:r>
          </a:p>
        </p:txBody>
      </p:sp>
      <p:sp>
        <p:nvSpPr>
          <p:cNvPr id="2" name="Text"/>
          <p:cNvSpPr txBox="1"/>
          <p:nvPr/>
        </p:nvSpPr>
        <p:spPr>
          <a:xfrm>
            <a:off x="530352" y="841248"/>
            <a:ext cx="987552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400">
                <a:solidFill>
                  <a:srgbClr val="667085"/>
                </a:solidFill>
              </a:rPr>
              <a:t>The analysis converts posting fields into jobseeker-friendly views.</a:t>
            </a:r>
          </a:p>
        </p:txBody>
      </p:sp>
      <p:sp>
        <p:nvSpPr>
          <p:cNvPr id="19" name="Rectangle"/>
          <p:cNvSpPr/>
          <p:nvPr/>
        </p:nvSpPr>
        <p:spPr>
          <a:xfrm>
            <a:off x="530352" y="1115568"/>
            <a:ext cx="5230368" cy="64008"/>
          </a:xfrm>
          <a:prstGeom prst="rect">
            <a:avLst/>
          </a:prstGeom>
          <a:solidFill>
            <a:srgbClr val="E26D5A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0" name="Rectangle"/>
          <p:cNvSpPr/>
          <p:nvPr/>
        </p:nvSpPr>
        <p:spPr>
          <a:xfrm>
            <a:off x="804672" y="1600200"/>
            <a:ext cx="1920240" cy="96012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3" name="Text"/>
          <p:cNvSpPr txBox="1"/>
          <p:nvPr/>
        </p:nvSpPr>
        <p:spPr>
          <a:xfrm>
            <a:off x="960120" y="1847088"/>
            <a:ext cx="160020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000" b="1">
                <a:solidFill>
                  <a:srgbClr val="17324D"/>
                </a:solidFill>
              </a:rPr>
              <a:t>Raw postings</a:t>
            </a:r>
          </a:p>
        </p:txBody>
      </p:sp>
      <p:sp>
        <p:nvSpPr>
          <p:cNvPr id="21" name="Rectangle"/>
          <p:cNvSpPr/>
          <p:nvPr/>
        </p:nvSpPr>
        <p:spPr>
          <a:xfrm>
            <a:off x="3337560" y="1600200"/>
            <a:ext cx="2011680" cy="96012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4" name="Text"/>
          <p:cNvSpPr txBox="1"/>
          <p:nvPr/>
        </p:nvSpPr>
        <p:spPr>
          <a:xfrm>
            <a:off x="3493008" y="1792224"/>
            <a:ext cx="1737360" cy="43891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00" b="1">
                <a:solidFill>
                  <a:srgbClr val="17324D"/>
                </a:solidFill>
              </a:rPr>
              <a:t>Clean &amp; classify</a:t>
            </a:r>
          </a:p>
        </p:txBody>
      </p:sp>
      <p:sp>
        <p:nvSpPr>
          <p:cNvPr id="22" name="Rectangle"/>
          <p:cNvSpPr/>
          <p:nvPr/>
        </p:nvSpPr>
        <p:spPr>
          <a:xfrm>
            <a:off x="5961888" y="1600200"/>
            <a:ext cx="1965960" cy="96012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5" name="Text"/>
          <p:cNvSpPr txBox="1"/>
          <p:nvPr/>
        </p:nvSpPr>
        <p:spPr>
          <a:xfrm>
            <a:off x="6144768" y="1792224"/>
            <a:ext cx="1600200" cy="43891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00" b="1">
                <a:solidFill>
                  <a:srgbClr val="17324D"/>
                </a:solidFill>
              </a:rPr>
              <a:t>Aggregate metrics</a:t>
            </a:r>
          </a:p>
        </p:txBody>
      </p:sp>
      <p:sp>
        <p:nvSpPr>
          <p:cNvPr id="23" name="Rectangle"/>
          <p:cNvSpPr/>
          <p:nvPr/>
        </p:nvSpPr>
        <p:spPr>
          <a:xfrm>
            <a:off x="8458200" y="1600200"/>
            <a:ext cx="2057400" cy="96012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6" name="Text"/>
          <p:cNvSpPr txBox="1"/>
          <p:nvPr/>
        </p:nvSpPr>
        <p:spPr>
          <a:xfrm>
            <a:off x="8613648" y="1792224"/>
            <a:ext cx="1737360" cy="43891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00" b="1">
                <a:solidFill>
                  <a:srgbClr val="17324D"/>
                </a:solidFill>
              </a:rPr>
              <a:t>Interactive filters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2852928" y="1865376"/>
            <a:ext cx="292608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400">
                <a:solidFill>
                  <a:srgbClr val="E26D5A"/>
                </a:solidFill>
              </a:rPr>
              <a:t>→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68112" y="1865376"/>
            <a:ext cx="292608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400">
                <a:solidFill>
                  <a:srgbClr val="E26D5A"/>
                </a:solidFill>
              </a:rPr>
              <a:t>→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8028431" y="1865376"/>
            <a:ext cx="292608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400">
                <a:solidFill>
                  <a:srgbClr val="E26D5A"/>
                </a:solidFill>
              </a:rPr>
              <a:t>→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914400" y="3246120"/>
            <a:ext cx="9418320" cy="14173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1700">
                <a:solidFill>
                  <a:srgbClr val="1F2933"/>
                </a:solidFill>
              </a:rPr>
              <a:t>Primary category is extracted from the category list.</a:t>
            </a:r>
          </a:p>
          <a:p>
            <a:pPr marL="285750" indent="-171450">
              <a:buChar char="•"/>
            </a:pPr>
            <a:r>
              <a:rPr lang="en-US" sz="1700">
                <a:solidFill>
                  <a:srgbClr val="1F2933"/>
                </a:solidFill>
              </a:rPr>
              <a:t>Role family is classified from title keywords.</a:t>
            </a:r>
          </a:p>
          <a:p>
            <a:pPr marL="285750" indent="-171450">
              <a:buChar char="•"/>
            </a:pPr>
            <a:r>
              <a:rPr lang="en-US" sz="1700">
                <a:solidFill>
                  <a:srgbClr val="1F2933"/>
                </a:solidFill>
              </a:rPr>
              <a:t>Seniority is inferred from position level, title, and minimum experience.</a:t>
            </a:r>
          </a:p>
          <a:p>
            <a:pPr marL="285750" indent="-171450">
              <a:buChar char="•"/>
            </a:pPr>
            <a:r>
              <a:rPr lang="en-US" sz="1700">
                <a:solidFill>
                  <a:srgbClr val="1F2933"/>
                </a:solidFill>
              </a:rPr>
              <a:t>Skillsets are title-based signals, such as SQL, Python, Excel, Java, sales, or analytics.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"/>
          <p:cNvSpPr txBox="1"/>
          <p:nvPr/>
        </p:nvSpPr>
        <p:spPr>
          <a:xfrm>
            <a:off x="502920" y="320040"/>
            <a:ext cx="10332720" cy="5029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000" b="1">
                <a:solidFill>
                  <a:srgbClr val="17324D"/>
                </a:solidFill>
              </a:rPr>
              <a:t>4. Market Demand by Category</a:t>
            </a:r>
          </a:p>
        </p:txBody>
      </p:sp>
      <p:sp>
        <p:nvSpPr>
          <p:cNvPr id="2" name="Text"/>
          <p:cNvSpPr txBox="1"/>
          <p:nvPr/>
        </p:nvSpPr>
        <p:spPr>
          <a:xfrm>
            <a:off x="530352" y="841248"/>
            <a:ext cx="987552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400">
                <a:solidFill>
                  <a:srgbClr val="667085"/>
                </a:solidFill>
              </a:rPr>
              <a:t>Categories show the broad sectors and functions with the most advertised activity.</a:t>
            </a:r>
          </a:p>
        </p:txBody>
      </p:sp>
      <p:sp>
        <p:nvSpPr>
          <p:cNvPr id="24" name="Rectangle"/>
          <p:cNvSpPr/>
          <p:nvPr/>
        </p:nvSpPr>
        <p:spPr>
          <a:xfrm>
            <a:off x="530352" y="1115567"/>
            <a:ext cx="6556248" cy="64009"/>
          </a:xfrm>
          <a:prstGeom prst="rect">
            <a:avLst/>
          </a:prstGeom>
          <a:solidFill>
            <a:srgbClr val="E26D5A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pic>
        <p:nvPicPr>
          <p:cNvPr id="25" name="Top categories"/>
          <p:cNvPicPr/>
          <p:nvPr/>
        </p:nvPicPr>
        <p:blipFill>
          <a:blip r:embed="rId2"/>
          <a:stretch>
            <a:fillRect/>
          </a:stretch>
        </p:blipFill>
        <p:spPr>
          <a:xfrm>
            <a:off x="658368" y="1325880"/>
            <a:ext cx="5669280" cy="4343400"/>
          </a:xfrm>
          <a:prstGeom prst="rect">
            <a:avLst/>
          </a:prstGeom>
        </p:spPr>
      </p:pic>
      <p:sp>
        <p:nvSpPr>
          <p:cNvPr id="3" name="Text"/>
          <p:cNvSpPr txBox="1"/>
          <p:nvPr/>
        </p:nvSpPr>
        <p:spPr>
          <a:xfrm>
            <a:off x="6601968" y="1554480"/>
            <a:ext cx="3977639" cy="4572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100" b="1">
                <a:solidFill>
                  <a:srgbClr val="17324D"/>
                </a:solidFill>
              </a:rPr>
              <a:t>How to interpret this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6748272" y="2057400"/>
            <a:ext cx="3703320" cy="16459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1700">
                <a:solidFill>
                  <a:srgbClr val="1F2933"/>
                </a:solidFill>
              </a:rPr>
              <a:t>High count means more advertised openings.</a:t>
            </a:r>
          </a:p>
          <a:p>
            <a:pPr marL="285750" indent="-171450">
              <a:buChar char="•"/>
            </a:pPr>
            <a:r>
              <a:rPr lang="en-US" sz="1700">
                <a:solidFill>
                  <a:srgbClr val="1F2933"/>
                </a:solidFill>
              </a:rPr>
              <a:t>Categories help jobseekers compare broad career areas.</a:t>
            </a:r>
          </a:p>
          <a:p>
            <a:pPr marL="285750" indent="-171450">
              <a:buChar char="•"/>
            </a:pPr>
            <a:r>
              <a:rPr lang="en-US" sz="1700">
                <a:solidFill>
                  <a:srgbClr val="1F2933"/>
                </a:solidFill>
              </a:rPr>
              <a:t>A role can appear across sectors, so category and title should be analysed together.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6720840" y="4297680"/>
            <a:ext cx="3703320" cy="7315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900" b="1">
                <a:solidFill>
                  <a:srgbClr val="E26D5A"/>
                </a:solidFill>
              </a:rPr>
              <a:t>Jobseeker takeaway: start with active sectors, then inspect the actual titles inside them.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"/>
          <p:cNvSpPr txBox="1"/>
          <p:nvPr/>
        </p:nvSpPr>
        <p:spPr>
          <a:xfrm>
            <a:off x="502920" y="320040"/>
            <a:ext cx="10332720" cy="5029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000" b="1">
                <a:solidFill>
                  <a:srgbClr val="17324D"/>
                </a:solidFill>
              </a:rPr>
              <a:t>5. Role Families Translate Titles into Career Tracks</a:t>
            </a:r>
          </a:p>
        </p:txBody>
      </p:sp>
      <p:sp>
        <p:nvSpPr>
          <p:cNvPr id="2" name="Text"/>
          <p:cNvSpPr txBox="1"/>
          <p:nvPr/>
        </p:nvSpPr>
        <p:spPr>
          <a:xfrm>
            <a:off x="530352" y="841248"/>
            <a:ext cx="987552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400">
                <a:solidFill>
                  <a:srgbClr val="667085"/>
                </a:solidFill>
              </a:rPr>
              <a:t>Job titles are messy, so the dashboard groups them into clearer pathways.</a:t>
            </a:r>
          </a:p>
        </p:txBody>
      </p:sp>
      <p:sp>
        <p:nvSpPr>
          <p:cNvPr id="26" name="Rectangle"/>
          <p:cNvSpPr/>
          <p:nvPr/>
        </p:nvSpPr>
        <p:spPr>
          <a:xfrm>
            <a:off x="530352" y="1115567"/>
            <a:ext cx="5806440" cy="64009"/>
          </a:xfrm>
          <a:prstGeom prst="rect">
            <a:avLst/>
          </a:prstGeom>
          <a:solidFill>
            <a:srgbClr val="E26D5A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pic>
        <p:nvPicPr>
          <p:cNvPr id="27" name="Role families"/>
          <p:cNvPicPr/>
          <p:nvPr/>
        </p:nvPicPr>
        <p:blipFill>
          <a:blip r:embed="rId2"/>
          <a:stretch>
            <a:fillRect/>
          </a:stretch>
        </p:blipFill>
        <p:spPr>
          <a:xfrm>
            <a:off x="621792" y="1298448"/>
            <a:ext cx="5715000" cy="4434840"/>
          </a:xfrm>
          <a:prstGeom prst="rect">
            <a:avLst/>
          </a:prstGeom>
        </p:spPr>
      </p:pic>
      <p:sp>
        <p:nvSpPr>
          <p:cNvPr id="3" name="Text"/>
          <p:cNvSpPr txBox="1"/>
          <p:nvPr/>
        </p:nvSpPr>
        <p:spPr>
          <a:xfrm>
            <a:off x="6629400" y="1481328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100" b="1">
                <a:solidFill>
                  <a:srgbClr val="17324D"/>
                </a:solidFill>
              </a:rPr>
              <a:t>Why this matters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6793992" y="1975104"/>
            <a:ext cx="3703320" cy="15544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1700">
                <a:solidFill>
                  <a:srgbClr val="1F2933"/>
                </a:solidFill>
              </a:rPr>
              <a:t>Titles answer: What job is advertised?</a:t>
            </a:r>
          </a:p>
          <a:p>
            <a:pPr marL="285750" indent="-171450">
              <a:buChar char="•"/>
            </a:pPr>
            <a:r>
              <a:rPr lang="en-US" sz="1700">
                <a:solidFill>
                  <a:srgbClr val="1F2933"/>
                </a:solidFill>
              </a:rPr>
              <a:t>Role families answer: What career track does it belong to?</a:t>
            </a:r>
          </a:p>
          <a:p>
            <a:pPr marL="285750" indent="-171450">
              <a:buChar char="•"/>
            </a:pPr>
            <a:r>
              <a:rPr lang="en-US" sz="1700">
                <a:solidFill>
                  <a:srgbClr val="1F2933"/>
                </a:solidFill>
              </a:rPr>
              <a:t>This helps users discover alternative titles they may not have searched for.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6720840" y="4206240"/>
            <a:ext cx="3657600" cy="8686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00">
                <a:solidFill>
                  <a:srgbClr val="E26D5A"/>
                </a:solidFill>
              </a:rPr>
              <a:t>Example: analyst, data analyst, BI analyst, and reporting analyst can be viewed as related pathways.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"/>
          <p:cNvSpPr txBox="1"/>
          <p:nvPr/>
        </p:nvSpPr>
        <p:spPr>
          <a:xfrm>
            <a:off x="502920" y="320040"/>
            <a:ext cx="10332720" cy="5029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000" b="1">
                <a:solidFill>
                  <a:srgbClr val="17324D"/>
                </a:solidFill>
              </a:rPr>
              <a:t>6. Salary and Accessibility</a:t>
            </a:r>
          </a:p>
        </p:txBody>
      </p:sp>
      <p:sp>
        <p:nvSpPr>
          <p:cNvPr id="2" name="Text"/>
          <p:cNvSpPr txBox="1"/>
          <p:nvPr/>
        </p:nvSpPr>
        <p:spPr>
          <a:xfrm>
            <a:off x="530352" y="841248"/>
            <a:ext cx="987552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400">
                <a:solidFill>
                  <a:srgbClr val="667085"/>
                </a:solidFill>
              </a:rPr>
              <a:t>Salary becomes more useful when combined with experience and seniority.</a:t>
            </a:r>
          </a:p>
        </p:txBody>
      </p:sp>
      <p:sp>
        <p:nvSpPr>
          <p:cNvPr id="28" name="Rectangle"/>
          <p:cNvSpPr/>
          <p:nvPr/>
        </p:nvSpPr>
        <p:spPr>
          <a:xfrm>
            <a:off x="530351" y="1115567"/>
            <a:ext cx="5994273" cy="64009"/>
          </a:xfrm>
          <a:prstGeom prst="rect">
            <a:avLst/>
          </a:prstGeom>
          <a:solidFill>
            <a:srgbClr val="E26D5A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pic>
        <p:nvPicPr>
          <p:cNvPr id="29" name="Salary by role"/>
          <p:cNvPicPr/>
          <p:nvPr/>
        </p:nvPicPr>
        <p:blipFill>
          <a:blip r:embed="rId2"/>
          <a:stretch>
            <a:fillRect/>
          </a:stretch>
        </p:blipFill>
        <p:spPr>
          <a:xfrm>
            <a:off x="658368" y="1298448"/>
            <a:ext cx="5669280" cy="4389120"/>
          </a:xfrm>
          <a:prstGeom prst="rect">
            <a:avLst/>
          </a:prstGeom>
        </p:spPr>
      </p:pic>
      <p:sp>
        <p:nvSpPr>
          <p:cNvPr id="30" name="Rectangle"/>
          <p:cNvSpPr/>
          <p:nvPr/>
        </p:nvSpPr>
        <p:spPr>
          <a:xfrm>
            <a:off x="6620256" y="1481328"/>
            <a:ext cx="3520440" cy="86868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3" name="Text"/>
          <p:cNvSpPr txBox="1"/>
          <p:nvPr/>
        </p:nvSpPr>
        <p:spPr>
          <a:xfrm>
            <a:off x="6784848" y="1591056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100">
                <a:solidFill>
                  <a:srgbClr val="667085"/>
                </a:solidFill>
              </a:rPr>
              <a:t>Median monthly salary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6784848" y="1865376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200" b="1">
                <a:solidFill>
                  <a:srgbClr val="F2B134"/>
                </a:solidFill>
              </a:rPr>
              <a:t>S$3,850</a:t>
            </a:r>
          </a:p>
        </p:txBody>
      </p:sp>
      <p:sp>
        <p:nvSpPr>
          <p:cNvPr id="31" name="Rectangle"/>
          <p:cNvSpPr/>
          <p:nvPr/>
        </p:nvSpPr>
        <p:spPr>
          <a:xfrm>
            <a:off x="6620256" y="2578608"/>
            <a:ext cx="3520440" cy="86868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5" name="Text"/>
          <p:cNvSpPr txBox="1"/>
          <p:nvPr/>
        </p:nvSpPr>
        <p:spPr>
          <a:xfrm>
            <a:off x="6784848" y="2688336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100">
                <a:solidFill>
                  <a:srgbClr val="667085"/>
                </a:solidFill>
              </a:rPr>
              <a:t>Median required experience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6784848" y="2962656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200" b="1">
                <a:solidFill>
                  <a:srgbClr val="1F7A8C"/>
                </a:solidFill>
              </a:rPr>
              <a:t>2.0 yrs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6720840" y="3977639"/>
            <a:ext cx="3657600" cy="10058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1600">
                <a:solidFill>
                  <a:srgbClr val="1F2933"/>
                </a:solidFill>
              </a:rPr>
              <a:t>A high-paying role may not be realistic for an entry-level switcher.</a:t>
            </a:r>
          </a:p>
          <a:p>
            <a:pPr marL="285750" indent="-171450">
              <a:buChar char="•"/>
            </a:pPr>
            <a:r>
              <a:rPr lang="en-US" sz="1600">
                <a:solidFill>
                  <a:srgbClr val="1F2933"/>
                </a:solidFill>
              </a:rPr>
              <a:t>A moderate salary with low experience requirements may be a better first target.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"/>
          <p:cNvSpPr txBox="1"/>
          <p:nvPr/>
        </p:nvSpPr>
        <p:spPr>
          <a:xfrm>
            <a:off x="502920" y="320040"/>
            <a:ext cx="10332720" cy="5029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000" b="1">
                <a:solidFill>
                  <a:srgbClr val="17324D"/>
                </a:solidFill>
              </a:rPr>
              <a:t>7. Skillset Signals</a:t>
            </a:r>
          </a:p>
        </p:txBody>
      </p:sp>
      <p:sp>
        <p:nvSpPr>
          <p:cNvPr id="2" name="Text"/>
          <p:cNvSpPr txBox="1"/>
          <p:nvPr/>
        </p:nvSpPr>
        <p:spPr>
          <a:xfrm>
            <a:off x="530352" y="841248"/>
            <a:ext cx="987552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400">
                <a:solidFill>
                  <a:srgbClr val="667085"/>
                </a:solidFill>
              </a:rPr>
              <a:t>The dashboard can suggest visible skill signals, but it cannot fully replace job descriptions.</a:t>
            </a:r>
          </a:p>
        </p:txBody>
      </p:sp>
      <p:sp>
        <p:nvSpPr>
          <p:cNvPr id="32" name="Rectangle"/>
          <p:cNvSpPr/>
          <p:nvPr/>
        </p:nvSpPr>
        <p:spPr>
          <a:xfrm>
            <a:off x="530352" y="1115567"/>
            <a:ext cx="7184898" cy="64009"/>
          </a:xfrm>
          <a:prstGeom prst="rect">
            <a:avLst/>
          </a:prstGeom>
          <a:solidFill>
            <a:srgbClr val="E26D5A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pic>
        <p:nvPicPr>
          <p:cNvPr id="33" name="Skill signals"/>
          <p:cNvPicPr/>
          <p:nvPr/>
        </p:nvPicPr>
        <p:blipFill>
          <a:blip r:embed="rId2"/>
          <a:stretch>
            <a:fillRect/>
          </a:stretch>
        </p:blipFill>
        <p:spPr>
          <a:xfrm>
            <a:off x="658368" y="1298448"/>
            <a:ext cx="5623560" cy="4343400"/>
          </a:xfrm>
          <a:prstGeom prst="rect">
            <a:avLst/>
          </a:prstGeom>
        </p:spPr>
      </p:pic>
      <p:sp>
        <p:nvSpPr>
          <p:cNvPr id="3" name="Text"/>
          <p:cNvSpPr txBox="1"/>
          <p:nvPr/>
        </p:nvSpPr>
        <p:spPr>
          <a:xfrm>
            <a:off x="6565392" y="1444752"/>
            <a:ext cx="3977639" cy="4572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100" b="1">
                <a:solidFill>
                  <a:srgbClr val="17324D"/>
                </a:solidFill>
              </a:rPr>
              <a:t>What this can say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6748272" y="1938528"/>
            <a:ext cx="3749039" cy="105156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1600">
                <a:solidFill>
                  <a:srgbClr val="1F2933"/>
                </a:solidFill>
              </a:rPr>
              <a:t>Skills visible in job titles can highlight role direction.</a:t>
            </a:r>
          </a:p>
          <a:p>
            <a:pPr marL="285750" indent="-171450">
              <a:buChar char="•"/>
            </a:pPr>
            <a:r>
              <a:rPr lang="en-US" sz="1600">
                <a:solidFill>
                  <a:srgbClr val="1F2933"/>
                </a:solidFill>
              </a:rPr>
              <a:t>Examples include SQL, Python, Excel, Java, sales, finance, and analytics.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6565392" y="3401568"/>
            <a:ext cx="3977639" cy="4572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100" b="1">
                <a:solidFill>
                  <a:srgbClr val="E26D5A"/>
                </a:solidFill>
              </a:rPr>
              <a:t>Important limitation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6748272" y="3913632"/>
            <a:ext cx="3749039" cy="914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1600">
                <a:solidFill>
                  <a:srgbClr val="1F2933"/>
                </a:solidFill>
              </a:rPr>
              <a:t>The CSV does not include full job descriptions.</a:t>
            </a:r>
          </a:p>
          <a:p>
            <a:pPr marL="285750" indent="-171450">
              <a:buChar char="•"/>
            </a:pPr>
            <a:r>
              <a:rPr lang="en-US" sz="1600">
                <a:solidFill>
                  <a:srgbClr val="1F2933"/>
                </a:solidFill>
              </a:rPr>
              <a:t>So skill counts are signals, not complete skill requirements.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"/>
          <p:cNvSpPr txBox="1"/>
          <p:nvPr/>
        </p:nvSpPr>
        <p:spPr>
          <a:xfrm>
            <a:off x="502920" y="320040"/>
            <a:ext cx="10332720" cy="5029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000" b="1">
                <a:solidFill>
                  <a:srgbClr val="17324D"/>
                </a:solidFill>
              </a:rPr>
              <a:t>8. Who Else Benefits?</a:t>
            </a:r>
          </a:p>
        </p:txBody>
      </p:sp>
      <p:sp>
        <p:nvSpPr>
          <p:cNvPr id="2" name="Text"/>
          <p:cNvSpPr txBox="1"/>
          <p:nvPr/>
        </p:nvSpPr>
        <p:spPr>
          <a:xfrm>
            <a:off x="530352" y="841248"/>
            <a:ext cx="987552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400">
                <a:solidFill>
                  <a:srgbClr val="667085"/>
                </a:solidFill>
              </a:rPr>
              <a:t>The same dataset can support different dashboard designs for different decisions.</a:t>
            </a:r>
          </a:p>
        </p:txBody>
      </p:sp>
      <p:sp>
        <p:nvSpPr>
          <p:cNvPr id="34" name="Rectangle"/>
          <p:cNvSpPr/>
          <p:nvPr/>
        </p:nvSpPr>
        <p:spPr>
          <a:xfrm>
            <a:off x="530352" y="1115568"/>
            <a:ext cx="6480048" cy="64008"/>
          </a:xfrm>
          <a:prstGeom prst="rect">
            <a:avLst/>
          </a:prstGeom>
          <a:solidFill>
            <a:srgbClr val="E26D5A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35" name="Rectangle"/>
          <p:cNvSpPr/>
          <p:nvPr/>
        </p:nvSpPr>
        <p:spPr>
          <a:xfrm>
            <a:off x="685800" y="1417320"/>
            <a:ext cx="9829800" cy="713232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3" name="Text"/>
          <p:cNvSpPr txBox="1"/>
          <p:nvPr/>
        </p:nvSpPr>
        <p:spPr>
          <a:xfrm>
            <a:off x="868680" y="1545336"/>
            <a:ext cx="2057400" cy="25603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500" b="1">
                <a:solidFill>
                  <a:srgbClr val="17324D"/>
                </a:solidFill>
              </a:rPr>
              <a:t>Training providers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3154680" y="1545336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400">
                <a:solidFill>
                  <a:srgbClr val="E26D5A"/>
                </a:solidFill>
              </a:rPr>
              <a:t>Course planning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5257800" y="1545336"/>
            <a:ext cx="4892040" cy="25603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300">
                <a:solidFill>
                  <a:srgbClr val="1F2933"/>
                </a:solidFill>
              </a:rPr>
              <a:t>High-demand role families, visible skill signals, salary outcomes</a:t>
            </a:r>
          </a:p>
        </p:txBody>
      </p:sp>
      <p:sp>
        <p:nvSpPr>
          <p:cNvPr id="36" name="Rectangle"/>
          <p:cNvSpPr/>
          <p:nvPr/>
        </p:nvSpPr>
        <p:spPr>
          <a:xfrm>
            <a:off x="685800" y="2286000"/>
            <a:ext cx="9829800" cy="713232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6" name="Text"/>
          <p:cNvSpPr txBox="1"/>
          <p:nvPr/>
        </p:nvSpPr>
        <p:spPr>
          <a:xfrm>
            <a:off x="868680" y="2414016"/>
            <a:ext cx="2057400" cy="25603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500" b="1">
                <a:solidFill>
                  <a:srgbClr val="17324D"/>
                </a:solidFill>
              </a:rPr>
              <a:t>Employers / HR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3154680" y="2414016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400">
                <a:solidFill>
                  <a:srgbClr val="E26D5A"/>
                </a:solidFill>
              </a:rPr>
              <a:t>Hiring competitiveness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257800" y="2414016"/>
            <a:ext cx="4892040" cy="25603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300">
                <a:solidFill>
                  <a:srgbClr val="1F2933"/>
                </a:solidFill>
              </a:rPr>
              <a:t>Salary benchmark, applications, views, similar postings</a:t>
            </a:r>
          </a:p>
        </p:txBody>
      </p:sp>
      <p:sp>
        <p:nvSpPr>
          <p:cNvPr id="37" name="Rectangle"/>
          <p:cNvSpPr/>
          <p:nvPr/>
        </p:nvSpPr>
        <p:spPr>
          <a:xfrm>
            <a:off x="685800" y="3154680"/>
            <a:ext cx="9829800" cy="713232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9" name="Text"/>
          <p:cNvSpPr txBox="1"/>
          <p:nvPr/>
        </p:nvSpPr>
        <p:spPr>
          <a:xfrm>
            <a:off x="868680" y="3282696"/>
            <a:ext cx="2057400" cy="25603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500" b="1">
                <a:solidFill>
                  <a:srgbClr val="17324D"/>
                </a:solidFill>
              </a:rPr>
              <a:t>Policy teams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3154680" y="3282696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400">
                <a:solidFill>
                  <a:srgbClr val="E26D5A"/>
                </a:solidFill>
              </a:rPr>
              <a:t>Labour-market planning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5257800" y="3282696"/>
            <a:ext cx="4892040" cy="25603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300">
                <a:solidFill>
                  <a:srgbClr val="1F2933"/>
                </a:solidFill>
              </a:rPr>
              <a:t>Sector demand, entry-level access, high-demand/low-application gaps</a:t>
            </a:r>
          </a:p>
        </p:txBody>
      </p:sp>
      <p:sp>
        <p:nvSpPr>
          <p:cNvPr id="38" name="Rectangle"/>
          <p:cNvSpPr/>
          <p:nvPr/>
        </p:nvSpPr>
        <p:spPr>
          <a:xfrm>
            <a:off x="685800" y="4023360"/>
            <a:ext cx="9829800" cy="713232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12" name="Text"/>
          <p:cNvSpPr txBox="1"/>
          <p:nvPr/>
        </p:nvSpPr>
        <p:spPr>
          <a:xfrm>
            <a:off x="868680" y="4151376"/>
            <a:ext cx="2057400" cy="25603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500" b="1">
                <a:solidFill>
                  <a:srgbClr val="17324D"/>
                </a:solidFill>
              </a:rPr>
              <a:t>Career coaches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3154680" y="4151376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400">
                <a:solidFill>
                  <a:srgbClr val="E26D5A"/>
                </a:solidFill>
              </a:rPr>
              <a:t>Guidance conversations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5257800" y="4151376"/>
            <a:ext cx="4892040" cy="25603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300">
                <a:solidFill>
                  <a:srgbClr val="1F2933"/>
                </a:solidFill>
              </a:rPr>
              <a:t>Alternative titles, accessible roles, salary and competition signals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804672" y="5212080"/>
            <a:ext cx="9509760" cy="43891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900" b="1">
                <a:solidFill>
                  <a:srgbClr val="1F7A8C"/>
                </a:solidFill>
              </a:rPr>
              <a:t>Design principle: each audience needs different metrics because each audience has a different decision to make.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"/>
          <p:cNvSpPr txBox="1"/>
          <p:nvPr/>
        </p:nvSpPr>
        <p:spPr>
          <a:xfrm>
            <a:off x="502920" y="320040"/>
            <a:ext cx="10332720" cy="5029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000" b="1">
                <a:solidFill>
                  <a:srgbClr val="17324D"/>
                </a:solidFill>
              </a:rPr>
              <a:t>9. Conclusion and Next Steps</a:t>
            </a:r>
          </a:p>
        </p:txBody>
      </p:sp>
      <p:sp>
        <p:nvSpPr>
          <p:cNvPr id="2" name="Text"/>
          <p:cNvSpPr txBox="1"/>
          <p:nvPr/>
        </p:nvSpPr>
        <p:spPr>
          <a:xfrm>
            <a:off x="530352" y="841248"/>
            <a:ext cx="987552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400">
                <a:solidFill>
                  <a:srgbClr val="667085"/>
                </a:solidFill>
              </a:rPr>
              <a:t>The dashboard is useful now, and stronger with richer job-description data.</a:t>
            </a:r>
          </a:p>
        </p:txBody>
      </p:sp>
      <p:sp>
        <p:nvSpPr>
          <p:cNvPr id="39" name="Rectangle"/>
          <p:cNvSpPr/>
          <p:nvPr/>
        </p:nvSpPr>
        <p:spPr>
          <a:xfrm>
            <a:off x="530352" y="1115567"/>
            <a:ext cx="5984748" cy="64009"/>
          </a:xfrm>
          <a:prstGeom prst="rect">
            <a:avLst/>
          </a:prstGeom>
          <a:solidFill>
            <a:srgbClr val="E26D5A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3" name="Text"/>
          <p:cNvSpPr txBox="1"/>
          <p:nvPr/>
        </p:nvSpPr>
        <p:spPr>
          <a:xfrm>
            <a:off x="777240" y="1417320"/>
            <a:ext cx="4663440" cy="4114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100" b="1">
                <a:solidFill>
                  <a:srgbClr val="17324D"/>
                </a:solidFill>
              </a:rPr>
              <a:t>What the project delivers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960120" y="1920240"/>
            <a:ext cx="4343400" cy="15544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1700">
                <a:solidFill>
                  <a:srgbClr val="1F2933"/>
                </a:solidFill>
              </a:rPr>
              <a:t>Career exploration by sector, role family, seniority, salary, and experience</a:t>
            </a:r>
          </a:p>
          <a:p>
            <a:pPr marL="285750" indent="-171450">
              <a:buChar char="•"/>
            </a:pPr>
            <a:r>
              <a:rPr lang="en-US" sz="1700">
                <a:solidFill>
                  <a:srgbClr val="1F2933"/>
                </a:solidFill>
              </a:rPr>
              <a:t>Job explorer for comparing real advertised positions</a:t>
            </a:r>
          </a:p>
          <a:p>
            <a:pPr marL="285750" indent="-171450">
              <a:buChar char="•"/>
            </a:pPr>
            <a:r>
              <a:rPr lang="en-US" sz="1700">
                <a:solidFill>
                  <a:srgbClr val="1F2933"/>
                </a:solidFill>
              </a:rPr>
              <a:t>Title-based skill signals for early career planning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5806440" y="1417320"/>
            <a:ext cx="4480560" cy="4114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100" b="1">
                <a:solidFill>
                  <a:srgbClr val="17324D"/>
                </a:solidFill>
              </a:rPr>
              <a:t>Recommended improvements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5989320" y="1920240"/>
            <a:ext cx="4343400" cy="17830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1700">
                <a:solidFill>
                  <a:srgbClr val="1F2933"/>
                </a:solidFill>
              </a:rPr>
              <a:t>Add full job descriptions for stronger skill extraction</a:t>
            </a:r>
          </a:p>
          <a:p>
            <a:pPr marL="285750" indent="-171450">
              <a:buChar char="•"/>
            </a:pPr>
            <a:r>
              <a:rPr lang="en-US" sz="1700">
                <a:solidFill>
                  <a:srgbClr val="1F2933"/>
                </a:solidFill>
              </a:rPr>
              <a:t>Map role titles to a formal skills taxonomy</a:t>
            </a:r>
          </a:p>
          <a:p>
            <a:pPr marL="285750" indent="-171450">
              <a:buChar char="•"/>
            </a:pPr>
            <a:r>
              <a:rPr lang="en-US" sz="1700">
                <a:solidFill>
                  <a:srgbClr val="1F2933"/>
                </a:solidFill>
              </a:rPr>
              <a:t>Track trends over time and separate active vs closed postings</a:t>
            </a:r>
          </a:p>
          <a:p>
            <a:pPr marL="285750" indent="-171450">
              <a:buChar char="•"/>
            </a:pPr>
            <a:r>
              <a:rPr lang="en-US" sz="1700">
                <a:solidFill>
                  <a:srgbClr val="1F2933"/>
                </a:solidFill>
              </a:rPr>
              <a:t>Add role pathway recommendations for career switchers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914400" y="4892040"/>
            <a:ext cx="9326880" cy="6400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200" b="1">
                <a:solidFill>
                  <a:srgbClr val="E26D5A"/>
                </a:solidFill>
              </a:rPr>
              <a:t>Final message: the dashboard helps users move from “What jobs exist?” to “Which career direction should I explore next?”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752</Words>
  <Application>Microsoft Office PowerPoint</Application>
  <PresentationFormat>Widescreen</PresentationFormat>
  <Paragraphs>103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Singapore Job Analytics 10-minute Presentation</dc:title>
  <dc:creator>Codex</dc:creator>
  <cp:lastModifiedBy>Teofilo Santiago IV</cp:lastModifiedBy>
  <cp:revision>2</cp:revision>
  <dcterms:modified xsi:type="dcterms:W3CDTF">2026-05-13T07:48:47Z</dcterms:modified>
</cp:coreProperties>
</file>